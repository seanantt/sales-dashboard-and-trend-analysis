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Poppins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Poppins Light"/>
      <p:regular r:id="rId35"/>
      <p:bold r:id="rId36"/>
      <p:italic r:id="rId37"/>
      <p:boldItalic r:id="rId38"/>
    </p:embeddedFont>
    <p:embeddedFont>
      <p:font typeface="Montserrat Light"/>
      <p:regular r:id="rId39"/>
      <p:bold r:id="rId40"/>
      <p:italic r:id="rId41"/>
      <p:boldItalic r:id="rId42"/>
    </p:embeddedFont>
    <p:embeddedFont>
      <p:font typeface="Poppins Medium"/>
      <p:regular r:id="rId43"/>
      <p:bold r:id="rId44"/>
      <p:italic r:id="rId45"/>
      <p:boldItalic r:id="rId46"/>
    </p:embeddedFont>
    <p:embeddedFont>
      <p:font typeface="Montserrat ExtraLight"/>
      <p:regular r:id="rId47"/>
      <p:bold r:id="rId48"/>
      <p:italic r:id="rId49"/>
      <p:boldItalic r:id="rId50"/>
    </p:embeddedFont>
    <p:embeddedFont>
      <p:font typeface="Poppins SemiBold"/>
      <p:regular r:id="rId51"/>
      <p:bold r:id="rId52"/>
      <p:italic r:id="rId53"/>
      <p:boldItalic r:id="rId54"/>
    </p:embeddedFont>
    <p:embeddedFont>
      <p:font typeface="Poppins ExtraLight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427E88-C524-4E4D-A1EC-2F61795649C8}">
  <a:tblStyle styleId="{90427E88-C524-4E4D-A1EC-2F61795649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2121C9D-C8AE-449D-99E1-211CAB176D8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Light-bold.fntdata"/><Relationship Id="rId42" Type="http://schemas.openxmlformats.org/officeDocument/2006/relationships/font" Target="fonts/MontserratLight-boldItalic.fntdata"/><Relationship Id="rId41" Type="http://schemas.openxmlformats.org/officeDocument/2006/relationships/font" Target="fonts/MontserratLight-italic.fntdata"/><Relationship Id="rId44" Type="http://schemas.openxmlformats.org/officeDocument/2006/relationships/font" Target="fonts/PoppinsMedium-bold.fntdata"/><Relationship Id="rId43" Type="http://schemas.openxmlformats.org/officeDocument/2006/relationships/font" Target="fonts/PoppinsMedium-regular.fntdata"/><Relationship Id="rId46" Type="http://schemas.openxmlformats.org/officeDocument/2006/relationships/font" Target="fonts/PoppinsMedium-boldItalic.fntdata"/><Relationship Id="rId45" Type="http://schemas.openxmlformats.org/officeDocument/2006/relationships/font" Target="fonts/Poppins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ExtraLight-bold.fntdata"/><Relationship Id="rId47" Type="http://schemas.openxmlformats.org/officeDocument/2006/relationships/font" Target="fonts/MontserratExtraLight-regular.fntdata"/><Relationship Id="rId49" Type="http://schemas.openxmlformats.org/officeDocument/2006/relationships/font" Target="fonts/MontserratExtra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regular.fntdata"/><Relationship Id="rId30" Type="http://schemas.openxmlformats.org/officeDocument/2006/relationships/font" Target="fonts/Poppins-boldItalic.fntdata"/><Relationship Id="rId33" Type="http://schemas.openxmlformats.org/officeDocument/2006/relationships/font" Target="fonts/Montserrat-italic.fntdata"/><Relationship Id="rId32" Type="http://schemas.openxmlformats.org/officeDocument/2006/relationships/font" Target="fonts/Montserrat-bold.fntdata"/><Relationship Id="rId35" Type="http://schemas.openxmlformats.org/officeDocument/2006/relationships/font" Target="fonts/PoppinsLight-regular.fntdata"/><Relationship Id="rId34" Type="http://schemas.openxmlformats.org/officeDocument/2006/relationships/font" Target="fonts/Montserrat-boldItalic.fntdata"/><Relationship Id="rId37" Type="http://schemas.openxmlformats.org/officeDocument/2006/relationships/font" Target="fonts/PoppinsLight-italic.fntdata"/><Relationship Id="rId36" Type="http://schemas.openxmlformats.org/officeDocument/2006/relationships/font" Target="fonts/PoppinsLight-bold.fntdata"/><Relationship Id="rId39" Type="http://schemas.openxmlformats.org/officeDocument/2006/relationships/font" Target="fonts/MontserratLight-regular.fntdata"/><Relationship Id="rId38" Type="http://schemas.openxmlformats.org/officeDocument/2006/relationships/font" Target="fonts/PoppinsLight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29" Type="http://schemas.openxmlformats.org/officeDocument/2006/relationships/font" Target="fonts/Poppins-italic.fntdata"/><Relationship Id="rId51" Type="http://schemas.openxmlformats.org/officeDocument/2006/relationships/font" Target="fonts/PoppinsSemiBold-regular.fntdata"/><Relationship Id="rId50" Type="http://schemas.openxmlformats.org/officeDocument/2006/relationships/font" Target="fonts/MontserratExtraLight-boldItalic.fntdata"/><Relationship Id="rId53" Type="http://schemas.openxmlformats.org/officeDocument/2006/relationships/font" Target="fonts/PoppinsSemiBold-italic.fntdata"/><Relationship Id="rId52" Type="http://schemas.openxmlformats.org/officeDocument/2006/relationships/font" Target="fonts/PoppinsSemiBold-bold.fntdata"/><Relationship Id="rId11" Type="http://schemas.openxmlformats.org/officeDocument/2006/relationships/slide" Target="slides/slide5.xml"/><Relationship Id="rId55" Type="http://schemas.openxmlformats.org/officeDocument/2006/relationships/font" Target="fonts/PoppinsExtraLight-regular.fntdata"/><Relationship Id="rId10" Type="http://schemas.openxmlformats.org/officeDocument/2006/relationships/slide" Target="slides/slide4.xml"/><Relationship Id="rId54" Type="http://schemas.openxmlformats.org/officeDocument/2006/relationships/font" Target="fonts/PoppinsSemiBold-boldItalic.fntdata"/><Relationship Id="rId13" Type="http://schemas.openxmlformats.org/officeDocument/2006/relationships/slide" Target="slides/slide7.xml"/><Relationship Id="rId57" Type="http://schemas.openxmlformats.org/officeDocument/2006/relationships/font" Target="fonts/PoppinsExtraLight-italic.fntdata"/><Relationship Id="rId12" Type="http://schemas.openxmlformats.org/officeDocument/2006/relationships/slide" Target="slides/slide6.xml"/><Relationship Id="rId56" Type="http://schemas.openxmlformats.org/officeDocument/2006/relationships/font" Target="fonts/PoppinsExtraLight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PoppinsExtraLigh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ed218472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ed218472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ed218472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ed218472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ed218472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ed218472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ed218472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ed218472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ed218472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ed218472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ed218472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ed218472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ed218472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ed218472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ed218472f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ed218472f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6e4124b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6e4124b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6e4124bd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6e4124bd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836a487e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836a487e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836a487e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836a487e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836a487e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836a487e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836a487e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d836a487e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802eef6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802eef6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802eef62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802eef62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802eef62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802eef62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802eef62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802eef62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913eaa8e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913eaa8e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913eaa8e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913eaa8e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344252"/>
            </a:gs>
            <a:gs pos="100000">
              <a:srgbClr val="020D20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64650" y="928650"/>
            <a:ext cx="36075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TokoMart Indonesia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754225" y="1331850"/>
            <a:ext cx="2601000" cy="53700"/>
          </a:xfrm>
          <a:prstGeom prst="rect">
            <a:avLst/>
          </a:prstGeom>
          <a:solidFill>
            <a:srgbClr val="0523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664650" y="1331850"/>
            <a:ext cx="374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Sales Dashboard &amp; Trend Analysis</a:t>
            </a:r>
            <a:endParaRPr sz="10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26500" y="3893500"/>
            <a:ext cx="374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Rafly Sean Antonio</a:t>
            </a:r>
            <a:endParaRPr sz="10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Analyst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916075" y="4301775"/>
            <a:ext cx="1194300" cy="53700"/>
          </a:xfrm>
          <a:prstGeom prst="rect">
            <a:avLst/>
          </a:prstGeom>
          <a:solidFill>
            <a:srgbClr val="0725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752375" y="695125"/>
            <a:ext cx="5131500" cy="4572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721325" y="3956375"/>
            <a:ext cx="5783700" cy="377400"/>
          </a:xfrm>
          <a:prstGeom prst="roundRect">
            <a:avLst>
              <a:gd fmla="val 10183" name="adj"/>
            </a:avLst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Direksi (CEO, CFO, COO)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721325" y="3492925"/>
            <a:ext cx="5783700" cy="377400"/>
          </a:xfrm>
          <a:prstGeom prst="roundRect">
            <a:avLst>
              <a:gd fmla="val 10183" name="adj"/>
            </a:avLst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Ibu Ratna — Head of Commercial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4"/>
          <p:cNvSpPr txBox="1"/>
          <p:nvPr>
            <p:ph type="ctrTitle"/>
          </p:nvPr>
        </p:nvSpPr>
        <p:spPr>
          <a:xfrm>
            <a:off x="664650" y="928650"/>
            <a:ext cx="36075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TokoMart Indonesia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754225" y="1331850"/>
            <a:ext cx="2601000" cy="53700"/>
          </a:xfrm>
          <a:prstGeom prst="rect">
            <a:avLst/>
          </a:prstGeom>
          <a:solidFill>
            <a:srgbClr val="0523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664650" y="1331850"/>
            <a:ext cx="3971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Dalam bisnis retail multi-cabang, performa penjualan antar cabang dan kategori sering kali tidak merata. Tanpa visibilitas data yang jelas, perusahaan berisiko kehilangan peluang pertumbuhan, salah alokasi stok, dan mengambil keputusan berdasarkan asumsi.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Dashboard ini dirancang untuk membantu manajemen mengidentifikasi cabang terbaik, kategori terlaris, area underperforming, serta peluang optimasi bisnis secara cepat dan akurat.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5" name="Google Shape;75;p14"/>
          <p:cNvSpPr txBox="1"/>
          <p:nvPr>
            <p:ph type="ctrTitle"/>
          </p:nvPr>
        </p:nvSpPr>
        <p:spPr>
          <a:xfrm>
            <a:off x="664650" y="3112825"/>
            <a:ext cx="3607500" cy="45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57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Stakeholder</a:t>
            </a:r>
            <a:endParaRPr sz="157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ctrTitle"/>
          </p:nvPr>
        </p:nvSpPr>
        <p:spPr>
          <a:xfrm>
            <a:off x="664650" y="928650"/>
            <a:ext cx="36075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Product Category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754225" y="1331850"/>
            <a:ext cx="2601000" cy="53700"/>
          </a:xfrm>
          <a:prstGeom prst="rect">
            <a:avLst/>
          </a:prstGeom>
          <a:solidFill>
            <a:srgbClr val="0523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754225" y="1822425"/>
            <a:ext cx="1705200" cy="33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Electronics</a:t>
            </a:r>
            <a:endParaRPr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707575" y="2121750"/>
            <a:ext cx="17985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Smartphone, Laptop, Tablet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7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Rp 1.2M – 9.5M</a:t>
            </a:r>
            <a:endParaRPr i="1" sz="7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Volume rendah, revenue tinggi</a:t>
            </a:r>
            <a:endParaRPr sz="700">
              <a:solidFill>
                <a:schemeClr val="lt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800875" y="2960350"/>
            <a:ext cx="1705200" cy="33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Fashion</a:t>
            </a:r>
            <a:endParaRPr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754225" y="3259675"/>
            <a:ext cx="17985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Kemeja, Dress, Sepatu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7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Rp 350K – 850K</a:t>
            </a:r>
            <a:endParaRPr i="1" sz="7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Volume tinggi, revenue sedang</a:t>
            </a:r>
            <a:endParaRPr sz="700">
              <a:solidFill>
                <a:schemeClr val="lt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3186050" y="1822425"/>
            <a:ext cx="1705200" cy="33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 &amp; Living</a:t>
            </a:r>
            <a:endParaRPr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3139400" y="2121750"/>
            <a:ext cx="17985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Blender, Rice Cooker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7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Rp 250K – 1.2M</a:t>
            </a:r>
            <a:endParaRPr i="1" sz="7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Seasonal (Lebaran peak)</a:t>
            </a:r>
            <a:endParaRPr sz="700">
              <a:solidFill>
                <a:schemeClr val="lt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3186050" y="2960350"/>
            <a:ext cx="1705200" cy="33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Beauty</a:t>
            </a:r>
            <a:endParaRPr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3139400" y="3259675"/>
            <a:ext cx="17985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Skincare, Lipstik, Parfum</a:t>
            </a:r>
            <a:endParaRPr b="1"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7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Rp 150K – 550K</a:t>
            </a:r>
            <a:endParaRPr i="1" sz="7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Volume tinggi, margin bagus</a:t>
            </a:r>
            <a:endParaRPr sz="700">
              <a:solidFill>
                <a:schemeClr val="lt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ctrTitle"/>
          </p:nvPr>
        </p:nvSpPr>
        <p:spPr>
          <a:xfrm>
            <a:off x="659125" y="1363625"/>
            <a:ext cx="36075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Masalah Utama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748700" y="1766825"/>
            <a:ext cx="2601000" cy="53700"/>
          </a:xfrm>
          <a:prstGeom prst="rect">
            <a:avLst/>
          </a:prstGeom>
          <a:solidFill>
            <a:srgbClr val="0523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748700" y="1886650"/>
            <a:ext cx="44265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Char char="❖"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Data terlambat 2–3 hari → keputusan stok Lebaran tidak bisa menunggu.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Char char="❖"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Tidak tahu cabang mana yang perform → dari 10 cabang, mana yang perlu tambahan investasi atau perhatian?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Char char="❖"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Tidak tahu timing promo optimal → promo sebaiknya dijalankan hari apa dan tanggal berapa?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Char char="❖"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Data mentah berantakan → banyak anomali dari sistem POS yang harus dibersihkan.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ctrTitle"/>
          </p:nvPr>
        </p:nvSpPr>
        <p:spPr>
          <a:xfrm>
            <a:off x="648150" y="1319550"/>
            <a:ext cx="36075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Business Question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737725" y="1722750"/>
            <a:ext cx="2601000" cy="53700"/>
          </a:xfrm>
          <a:prstGeom prst="rect">
            <a:avLst/>
          </a:prstGeom>
          <a:solidFill>
            <a:srgbClr val="0523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754225" y="1451675"/>
            <a:ext cx="4426500" cy="28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AutoNum type="arabicPeriod"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Cabang mana yang harus di-invest lebih, mana yang perlu di-investigate?</a:t>
            </a: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800">
                <a:solidFill>
                  <a:schemeClr val="lt2"/>
                </a:solidFill>
                <a:highlight>
                  <a:srgbClr val="052355"/>
                </a:highlight>
                <a:latin typeface="Poppins Light"/>
                <a:ea typeface="Poppins Light"/>
                <a:cs typeface="Poppins Light"/>
                <a:sym typeface="Poppins Light"/>
              </a:rPr>
              <a:t>Stakeholder: Head of Commercial, CFO</a:t>
            </a:r>
            <a:endParaRPr i="1" sz="800">
              <a:solidFill>
                <a:srgbClr val="DBDFE3"/>
              </a:solidFill>
              <a:highlight>
                <a:srgbClr val="052355"/>
              </a:highlight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AutoNum type="arabicPeriod"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Produk apa yang harus di-push menjelang Lebaran?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800">
                <a:solidFill>
                  <a:srgbClr val="DBDFE3"/>
                </a:solidFill>
                <a:highlight>
                  <a:srgbClr val="052355"/>
                </a:highlight>
                <a:latin typeface="Poppins Light"/>
                <a:ea typeface="Poppins Light"/>
                <a:cs typeface="Poppins Light"/>
                <a:sym typeface="Poppins Light"/>
              </a:rPr>
              <a:t>Stakeholder: Head of Commercial, COO</a:t>
            </a:r>
            <a:endParaRPr i="1" sz="800">
              <a:solidFill>
                <a:srgbClr val="DBDFE3"/>
              </a:solidFill>
              <a:highlight>
                <a:srgbClr val="052355"/>
              </a:highlight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AutoNum type="arabicPeriod"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Kapan waktu promosi yang paling efektif untuk melakukan promo?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800">
                <a:solidFill>
                  <a:srgbClr val="DBDFE3"/>
                </a:solidFill>
                <a:highlight>
                  <a:srgbClr val="052355"/>
                </a:highlight>
                <a:latin typeface="Poppins Light"/>
                <a:ea typeface="Poppins Light"/>
                <a:cs typeface="Poppins Light"/>
                <a:sym typeface="Poppins Light"/>
              </a:rPr>
              <a:t>Stakeholder: Head of Commercial, CMO</a:t>
            </a:r>
            <a:endParaRPr i="1" sz="800">
              <a:solidFill>
                <a:srgbClr val="DBDFE3"/>
              </a:solidFill>
              <a:highlight>
                <a:srgbClr val="052355"/>
              </a:highlight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800">
              <a:solidFill>
                <a:srgbClr val="DBDFE3"/>
              </a:solidFill>
              <a:highlight>
                <a:srgbClr val="052355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ctrTitle"/>
          </p:nvPr>
        </p:nvSpPr>
        <p:spPr>
          <a:xfrm>
            <a:off x="648150" y="1319550"/>
            <a:ext cx="36075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Framework 1: Branch Segmentation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737725" y="1722750"/>
            <a:ext cx="2601000" cy="53700"/>
          </a:xfrm>
          <a:prstGeom prst="rect">
            <a:avLst/>
          </a:prstGeom>
          <a:solidFill>
            <a:srgbClr val="0523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776250" y="1960075"/>
            <a:ext cx="5080200" cy="33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Top Performer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803725" y="2233050"/>
            <a:ext cx="253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Invest lebih — tambah stok &amp; staff</a:t>
            </a:r>
            <a:endParaRPr i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776250" y="2593775"/>
            <a:ext cx="4672500" cy="33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Mid Performers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803725" y="2886475"/>
            <a:ext cx="253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Maintain — monitor trend</a:t>
            </a:r>
            <a:endParaRPr i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776250" y="3227475"/>
            <a:ext cx="4221300" cy="33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Watchlist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2266550" y="2029075"/>
            <a:ext cx="215700" cy="2007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770725" y="3512375"/>
            <a:ext cx="253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Investigate — cari root cause</a:t>
            </a:r>
            <a:endParaRPr i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776250" y="3906950"/>
            <a:ext cx="3835800" cy="338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Underperformers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770725" y="4211600"/>
            <a:ext cx="253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Action needed — fix atau reallocate</a:t>
            </a:r>
            <a:endParaRPr i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2365125" y="2724250"/>
            <a:ext cx="144950" cy="108863"/>
          </a:xfrm>
          <a:prstGeom prst="flowChartPunchedTap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1849400" y="3304525"/>
            <a:ext cx="168900" cy="177600"/>
          </a:xfrm>
          <a:prstGeom prst="sun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2532175" y="4013700"/>
            <a:ext cx="144900" cy="164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ctrTitle"/>
          </p:nvPr>
        </p:nvSpPr>
        <p:spPr>
          <a:xfrm>
            <a:off x="648150" y="1319550"/>
            <a:ext cx="36075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Framework 2: Product Dual Lens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737725" y="1722750"/>
            <a:ext cx="5139300" cy="53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143" name="Google Shape;143;p19"/>
          <p:cNvGraphicFramePr/>
          <p:nvPr/>
        </p:nvGraphicFramePr>
        <p:xfrm>
          <a:off x="737725" y="188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{90427E88-C524-4E4D-A1EC-2F61795649C8}</a:tableStyleId>
              </a:tblPr>
              <a:tblGrid>
                <a:gridCol w="1713050"/>
                <a:gridCol w="1713050"/>
                <a:gridCol w="1713050"/>
              </a:tblGrid>
              <a:tr h="51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LENS</a:t>
                      </a:r>
                      <a:endParaRPr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METRIC</a:t>
                      </a:r>
                      <a:endParaRPr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IMPLIKASI BISNIS</a:t>
                      </a:r>
                      <a:endParaRPr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chemeClr val="lt1"/>
                        </a:gs>
                        <a:gs pos="50000">
                          <a:srgbClr val="072557"/>
                        </a:gs>
                        <a:gs pos="100000">
                          <a:srgbClr val="072557"/>
                        </a:gs>
                      </a:gsLst>
                      <a:lin ang="8100019" scaled="0"/>
                    </a:gradFill>
                  </a:tcPr>
                </a:tc>
              </a:tr>
              <a:tr h="53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Volume</a:t>
                      </a:r>
                      <a:endParaRPr sz="1000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0C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Total Quantity</a:t>
                      </a:r>
                      <a:endParaRPr sz="1000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0C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Drive foot traffic — harus selalu available</a:t>
                      </a:r>
                      <a:endParaRPr sz="1000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0C1E"/>
                    </a:solidFill>
                  </a:tcPr>
                </a:tc>
              </a:tr>
              <a:tr h="53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Value</a:t>
                      </a:r>
                      <a:endParaRPr sz="1000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0C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Total Revenue</a:t>
                      </a:r>
                      <a:endParaRPr sz="1000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0C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Drive revenue — margin tinggi, stok premium</a:t>
                      </a:r>
                      <a:endParaRPr sz="1000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0C1E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19"/>
          <p:cNvSpPr txBox="1"/>
          <p:nvPr/>
        </p:nvSpPr>
        <p:spPr>
          <a:xfrm>
            <a:off x="737650" y="3620150"/>
            <a:ext cx="51393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 </a:t>
            </a:r>
            <a:r>
              <a:rPr lang="en-GB" sz="11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Produk dengan volume tinggi membantu menjaga aktivitas transaksi, sedangkan produk dengan </a:t>
            </a:r>
            <a:r>
              <a:rPr lang="en-GB" sz="11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revenue</a:t>
            </a:r>
            <a:r>
              <a:rPr lang="en-GB" sz="11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 tinggi berperan penting dalam meningkatkan profitabilitas</a:t>
            </a:r>
            <a:endParaRPr sz="11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806125" y="4298350"/>
            <a:ext cx="1077000" cy="53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ctrTitle"/>
          </p:nvPr>
        </p:nvSpPr>
        <p:spPr>
          <a:xfrm>
            <a:off x="648150" y="1319550"/>
            <a:ext cx="36075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Framework 3: Trend Analysis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737725" y="1722750"/>
            <a:ext cx="5139300" cy="53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155" name="Google Shape;155;p20"/>
          <p:cNvGraphicFramePr/>
          <p:nvPr/>
        </p:nvGraphicFramePr>
        <p:xfrm>
          <a:off x="737725" y="188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{90427E88-C524-4E4D-A1EC-2F61795649C8}</a:tableStyleId>
              </a:tblPr>
              <a:tblGrid>
                <a:gridCol w="1713050"/>
                <a:gridCol w="1713050"/>
                <a:gridCol w="1713050"/>
              </a:tblGrid>
              <a:tr h="51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Pattern</a:t>
                      </a:r>
                      <a:endParaRPr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Comparison</a:t>
                      </a:r>
                      <a:endParaRPr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Implikasi</a:t>
                      </a:r>
                      <a:endParaRPr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chemeClr val="lt1"/>
                        </a:gs>
                        <a:gs pos="50000">
                          <a:srgbClr val="072557"/>
                        </a:gs>
                        <a:gs pos="100000">
                          <a:srgbClr val="072557"/>
                        </a:gs>
                      </a:gsLst>
                      <a:lin ang="8100019" scaled="0"/>
                    </a:gradFill>
                  </a:tcPr>
                </a:tc>
              </a:tr>
              <a:tr h="53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Weekend</a:t>
                      </a:r>
                      <a:endParaRPr sz="1000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0C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Sabtu-Minggu vs Senin-Jumat</a:t>
                      </a:r>
                      <a:endParaRPr sz="1000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0C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Staffing harus di-adjust</a:t>
                      </a:r>
                      <a:endParaRPr sz="1000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0C1E"/>
                    </a:solidFill>
                  </a:tcPr>
                </a:tc>
              </a:tr>
              <a:tr h="53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Payday</a:t>
                      </a:r>
                      <a:endParaRPr sz="1000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0C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Tanggal 1-5 vs 6-31</a:t>
                      </a:r>
                      <a:endParaRPr sz="1000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0C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Poppins Light"/>
                          <a:ea typeface="Poppins Light"/>
                          <a:cs typeface="Poppins Light"/>
                          <a:sym typeface="Poppins Light"/>
                        </a:rPr>
                        <a:t>Timing promo optimal di awal bulan</a:t>
                      </a:r>
                      <a:endParaRPr sz="1000">
                        <a:solidFill>
                          <a:schemeClr val="lt1"/>
                        </a:solidFill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BEA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0C1E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20"/>
          <p:cNvSpPr txBox="1"/>
          <p:nvPr/>
        </p:nvSpPr>
        <p:spPr>
          <a:xfrm>
            <a:off x="737650" y="3620150"/>
            <a:ext cx="51393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 </a:t>
            </a:r>
            <a:r>
              <a:rPr lang="en-GB" sz="11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Melalui framework ini, didapatkan insight yang dapat membantu untuk menentukan penyesuaian staffing serta waktu </a:t>
            </a:r>
            <a:r>
              <a:rPr lang="en-GB" sz="11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pelaksanaan</a:t>
            </a:r>
            <a:r>
              <a:rPr lang="en-GB" sz="11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 promosi agar lebih optimal dan tepat sasaran.</a:t>
            </a:r>
            <a:endParaRPr sz="11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806125" y="4298350"/>
            <a:ext cx="1077000" cy="53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ctrTitle"/>
          </p:nvPr>
        </p:nvSpPr>
        <p:spPr>
          <a:xfrm>
            <a:off x="648150" y="1319550"/>
            <a:ext cx="26871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Key Findings &amp; Rekomendasi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737725" y="1722750"/>
            <a:ext cx="2597400" cy="53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648150" y="1776450"/>
            <a:ext cx="44265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Dari 5,098 baris data bersih — ini yang layak dipresentasikan ke direksi Senin pagi.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737725" y="2340500"/>
            <a:ext cx="1407000" cy="979800"/>
          </a:xfrm>
          <a:prstGeom prst="roundRect">
            <a:avLst>
              <a:gd fmla="val 6931" name="adj"/>
            </a:avLst>
          </a:prstGeom>
          <a:solidFill>
            <a:srgbClr val="072557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Weekend Boost</a:t>
            </a:r>
            <a:endParaRPr sz="10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00FF00"/>
                </a:solidFill>
                <a:latin typeface="Poppins"/>
                <a:ea typeface="Poppins"/>
                <a:cs typeface="Poppins"/>
                <a:sym typeface="Poppins"/>
              </a:rPr>
              <a:t>+35%</a:t>
            </a:r>
            <a:endParaRPr b="1" sz="1300">
              <a:solidFill>
                <a:srgbClr val="00FF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vs Weekday</a:t>
            </a:r>
            <a:endParaRPr sz="10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2318875" y="2340500"/>
            <a:ext cx="1407000" cy="979800"/>
          </a:xfrm>
          <a:prstGeom prst="roundRect">
            <a:avLst>
              <a:gd fmla="val 6931" name="adj"/>
            </a:avLst>
          </a:prstGeom>
          <a:solidFill>
            <a:srgbClr val="072557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Payday Boost</a:t>
            </a:r>
            <a:endParaRPr sz="10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00FF00"/>
                </a:solidFill>
                <a:latin typeface="Poppins"/>
                <a:ea typeface="Poppins"/>
                <a:cs typeface="Poppins"/>
                <a:sym typeface="Poppins"/>
              </a:rPr>
              <a:t>+30%</a:t>
            </a:r>
            <a:endParaRPr b="1" sz="1300">
              <a:solidFill>
                <a:srgbClr val="00FF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Tgl 1-5 vs Tgl 6-31</a:t>
            </a:r>
            <a:endParaRPr sz="8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737725" y="3504550"/>
            <a:ext cx="1407000" cy="979800"/>
          </a:xfrm>
          <a:prstGeom prst="roundRect">
            <a:avLst>
              <a:gd fmla="val 6931" name="adj"/>
            </a:avLst>
          </a:prstGeom>
          <a:solidFill>
            <a:srgbClr val="072557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Gap Top-Bottom</a:t>
            </a:r>
            <a:endParaRPr sz="10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23.8%</a:t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Jakarta Selatan vs Bandung</a:t>
            </a:r>
            <a:endParaRPr sz="8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2318875" y="3504550"/>
            <a:ext cx="1407000" cy="979800"/>
          </a:xfrm>
          <a:prstGeom prst="roundRect">
            <a:avLst>
              <a:gd fmla="val 6931" name="adj"/>
            </a:avLst>
          </a:prstGeom>
          <a:solidFill>
            <a:srgbClr val="072557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Electronic Revenue</a:t>
            </a:r>
            <a:endParaRPr sz="10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78%</a:t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Total share</a:t>
            </a:r>
            <a:endParaRPr sz="8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ctrTitle"/>
          </p:nvPr>
        </p:nvSpPr>
        <p:spPr>
          <a:xfrm>
            <a:off x="648150" y="1016225"/>
            <a:ext cx="26871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Key Findings 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737725" y="1419425"/>
            <a:ext cx="2597400" cy="53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737725" y="1584725"/>
            <a:ext cx="4004100" cy="600300"/>
          </a:xfrm>
          <a:prstGeom prst="roundRect">
            <a:avLst>
              <a:gd fmla="val 6931" name="adj"/>
            </a:avLst>
          </a:prstGeom>
          <a:solidFill>
            <a:srgbClr val="072557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Finding 1: Jakarta South Memimpin</a:t>
            </a:r>
            <a:endParaRPr b="1"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Rp 2.89 B</a:t>
            </a:r>
            <a:endParaRPr b="1" sz="800">
              <a:solidFill>
                <a:srgbClr val="DBEA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Total sales tertinggi. Bandung Main terakhir (Rp 2.33B). Gap 23.8%.</a:t>
            </a:r>
            <a:endParaRPr sz="7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737725" y="2296625"/>
            <a:ext cx="4004100" cy="600300"/>
          </a:xfrm>
          <a:prstGeom prst="roundRect">
            <a:avLst>
              <a:gd fmla="val 6931" name="adj"/>
            </a:avLst>
          </a:prstGeom>
          <a:solidFill>
            <a:srgbClr val="072557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Finding 2: Electronics = 78% Revenue</a:t>
            </a:r>
            <a:endParaRPr b="1"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78%</a:t>
            </a:r>
            <a:endParaRPr b="1" sz="800">
              <a:solidFill>
                <a:srgbClr val="DBEA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Volume lebih rendah dari Fashion, tapi harga per unit jauh lebih tinggi.</a:t>
            </a:r>
            <a:endParaRPr sz="7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737725" y="3008525"/>
            <a:ext cx="4004100" cy="600300"/>
          </a:xfrm>
          <a:prstGeom prst="roundRect">
            <a:avLst>
              <a:gd fmla="val 6931" name="adj"/>
            </a:avLst>
          </a:prstGeom>
          <a:solidFill>
            <a:srgbClr val="072557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Finding 3: Weekend Boost +35%</a:t>
            </a:r>
            <a:endParaRPr b="1"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Rp 71M/day</a:t>
            </a:r>
            <a:endParaRPr b="1" sz="2000">
              <a:solidFill>
                <a:srgbClr val="DBEA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vs weekday Rp 52M/day. Konsisten sepanjang 15 bulan.</a:t>
            </a:r>
            <a:endParaRPr sz="7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737725" y="3720425"/>
            <a:ext cx="4004100" cy="600300"/>
          </a:xfrm>
          <a:prstGeom prst="roundRect">
            <a:avLst>
              <a:gd fmla="val 6931" name="adj"/>
            </a:avLst>
          </a:prstGeom>
          <a:solidFill>
            <a:srgbClr val="072557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Finding 4: Payday Effect +30%</a:t>
            </a:r>
            <a:endParaRPr b="1"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Rp 72M/day</a:t>
            </a:r>
            <a:endParaRPr b="1" sz="2000">
              <a:solidFill>
                <a:srgbClr val="DBEAF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Tanggal 1-5 vs Rp 55M/day tanggal 6-31.</a:t>
            </a:r>
            <a:endParaRPr sz="7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ctrTitle"/>
          </p:nvPr>
        </p:nvSpPr>
        <p:spPr>
          <a:xfrm>
            <a:off x="648150" y="1016225"/>
            <a:ext cx="26871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737725" y="1419425"/>
            <a:ext cx="2597400" cy="53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3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648150" y="1419425"/>
            <a:ext cx="48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Revenue per Branch</a:t>
            </a:r>
            <a:endParaRPr sz="11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95" name="Google Shape;195;p2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750" y="1811825"/>
            <a:ext cx="3528025" cy="2185000"/>
          </a:xfrm>
          <a:prstGeom prst="rect">
            <a:avLst/>
          </a:prstGeom>
          <a:noFill/>
          <a:ln cap="flat" cmpd="sng" w="28575">
            <a:solidFill>
              <a:srgbClr val="07255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6" name="Google Shape;196;p23"/>
          <p:cNvSpPr txBox="1"/>
          <p:nvPr/>
        </p:nvSpPr>
        <p:spPr>
          <a:xfrm>
            <a:off x="689725" y="4022275"/>
            <a:ext cx="51393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Jakarta South memimpin, Bandung Main di posisi terakhir. Gap 23.8% — cukup signifikan untuk di-investigate.</a:t>
            </a:r>
            <a:endParaRPr sz="7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ctrTitle"/>
          </p:nvPr>
        </p:nvSpPr>
        <p:spPr>
          <a:xfrm>
            <a:off x="648150" y="1016225"/>
            <a:ext cx="26871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737725" y="1419425"/>
            <a:ext cx="2597400" cy="53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4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648150" y="1419425"/>
            <a:ext cx="48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Revenue per Branch</a:t>
            </a:r>
            <a:endParaRPr sz="11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684175" y="3854250"/>
            <a:ext cx="51393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Kategori Electronics mendominasi revenue sebesar 20.3 Bio, jauh di atas kategori lainnya. Fashion dan Home &amp; Living berada di kisaran 2.2–2.3 Bio, sedangkan Beauty terendah dengan 1.3 Bio. Ini menunjukkan kontribusi revenue sangat terkonsentrasi pada Electronics, sehingga bisnis cukup bergantung pada satu kategori utama.</a:t>
            </a:r>
            <a:endParaRPr sz="7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8" name="Google Shape;208;p2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50" y="1758125"/>
            <a:ext cx="3286942" cy="2035700"/>
          </a:xfrm>
          <a:prstGeom prst="rect">
            <a:avLst/>
          </a:prstGeom>
          <a:noFill/>
          <a:ln cap="flat" cmpd="sng" w="28575">
            <a:solidFill>
              <a:srgbClr val="07255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ctrTitle"/>
          </p:nvPr>
        </p:nvSpPr>
        <p:spPr>
          <a:xfrm>
            <a:off x="648150" y="1016225"/>
            <a:ext cx="26871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737725" y="1419425"/>
            <a:ext cx="2597400" cy="53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648150" y="1419425"/>
            <a:ext cx="48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Product Category</a:t>
            </a:r>
            <a:endParaRPr sz="10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684175" y="3854250"/>
            <a:ext cx="28698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Electronics dominasi revenue karena harga per unit tinggi (Rp 1.2M–9.5M).</a:t>
            </a:r>
            <a:endParaRPr b="1"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9" name="Google Shape;219;p2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725" y="1730850"/>
            <a:ext cx="2789559" cy="2035700"/>
          </a:xfrm>
          <a:prstGeom prst="rect">
            <a:avLst/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0" name="Google Shape;220;p25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2496" y="1730850"/>
            <a:ext cx="2869855" cy="2035701"/>
          </a:xfrm>
          <a:prstGeom prst="rect">
            <a:avLst/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1" name="Google Shape;221;p25"/>
          <p:cNvSpPr txBox="1"/>
          <p:nvPr/>
        </p:nvSpPr>
        <p:spPr>
          <a:xfrm>
            <a:off x="3712525" y="3854250"/>
            <a:ext cx="28698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By volume, 4 kategori hampir merata. Fashion sedikit memimpin — ini yang drive foot traffic.</a:t>
            </a:r>
            <a:endParaRPr b="1"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type="ctrTitle"/>
          </p:nvPr>
        </p:nvSpPr>
        <p:spPr>
          <a:xfrm>
            <a:off x="648150" y="1016225"/>
            <a:ext cx="26871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737725" y="1419425"/>
            <a:ext cx="2597400" cy="53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6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648150" y="1419425"/>
            <a:ext cx="48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Product Category</a:t>
            </a:r>
            <a:endParaRPr sz="10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1" name="Google Shape;231;p26"/>
          <p:cNvSpPr txBox="1"/>
          <p:nvPr/>
        </p:nvSpPr>
        <p:spPr>
          <a:xfrm>
            <a:off x="648150" y="3636925"/>
            <a:ext cx="63801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Penjualan harian relatif stabil namun sangat fluktuatif. Beberapa spike besar menunjukkan adanya momentum penjualan tinggi, sementara tidak ada tren growth jangka panjang yang kuat.</a:t>
            </a:r>
            <a:endParaRPr b="1"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2" name="Google Shape;232;p2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725" y="1768025"/>
            <a:ext cx="6380232" cy="1791325"/>
          </a:xfrm>
          <a:prstGeom prst="rect">
            <a:avLst/>
          </a:prstGeom>
          <a:noFill/>
          <a:ln cap="flat" cmpd="sng" w="28575">
            <a:solidFill>
              <a:srgbClr val="07255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/>
          <p:nvPr>
            <p:ph type="ctrTitle"/>
          </p:nvPr>
        </p:nvSpPr>
        <p:spPr>
          <a:xfrm>
            <a:off x="648150" y="1016225"/>
            <a:ext cx="29397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Recommendation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737725" y="1419425"/>
            <a:ext cx="2597400" cy="53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7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737725" y="1879663"/>
            <a:ext cx="4004100" cy="456900"/>
          </a:xfrm>
          <a:prstGeom prst="roundRect">
            <a:avLst>
              <a:gd fmla="val 6931" name="adj"/>
            </a:avLst>
          </a:prstGeom>
          <a:solidFill>
            <a:srgbClr val="072557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Jakarta South konsisten #1. Weekend +35%. Tambah stok Electronics di Jakarta South untuk weekend menjelang Lebaran. Tambah 1-2 staff Sabtu-Minggu di cabang top 3.</a:t>
            </a:r>
            <a:endParaRPr b="1"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737725" y="2743100"/>
            <a:ext cx="4004100" cy="456900"/>
          </a:xfrm>
          <a:prstGeom prst="roundRect">
            <a:avLst>
              <a:gd fmla="val 6931" name="adj"/>
            </a:avLst>
          </a:prstGeom>
          <a:solidFill>
            <a:srgbClr val="072557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Payday +30%. Promo di tanggal 1-5 amplify spending yang sudah tinggi. Fokus Fashion &amp; Beauty (volume driver). Electronics nggak perlu di-promo.</a:t>
            </a:r>
            <a:endParaRPr b="1"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737725" y="3636925"/>
            <a:ext cx="4004100" cy="456900"/>
          </a:xfrm>
          <a:prstGeom prst="roundRect">
            <a:avLst>
              <a:gd fmla="val 6931" name="adj"/>
            </a:avLst>
          </a:prstGeom>
          <a:solidFill>
            <a:srgbClr val="072557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Gap 23.8% dari top. Jangan langsung tutup — cari root cause. Kemungkinan: lokasi, staffing, atau demand area.</a:t>
            </a:r>
            <a:endParaRPr b="1"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586650" y="1590600"/>
            <a:ext cx="456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Char char="●"/>
            </a:pPr>
            <a:r>
              <a:rPr b="1" lang="en-GB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Prioritaskan Stok &amp; Staff di Jakarta South + Weekend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7"/>
          <p:cNvSpPr txBox="1"/>
          <p:nvPr/>
        </p:nvSpPr>
        <p:spPr>
          <a:xfrm>
            <a:off x="586650" y="2471850"/>
            <a:ext cx="456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Char char="●"/>
            </a:pPr>
            <a:r>
              <a:rPr b="1" lang="en-GB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Jalankan Promo Tanggal 1-5 (Payday Window)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586650" y="3353100"/>
            <a:ext cx="456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Char char="●"/>
            </a:pPr>
            <a:r>
              <a:rPr b="1" lang="en-GB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Investigate Bandung Main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48" name="Google Shape;248;p27"/>
          <p:cNvGraphicFramePr/>
          <p:nvPr/>
        </p:nvGraphicFramePr>
        <p:xfrm>
          <a:off x="5089625" y="101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{12121C9D-C8AE-449D-99E1-211CAB176D8D}</a:tableStyleId>
              </a:tblPr>
              <a:tblGrid>
                <a:gridCol w="1002100"/>
              </a:tblGrid>
              <a:tr h="342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Sales</a:t>
                      </a:r>
                      <a:endParaRPr b="1" sz="11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ctr">
                    <a:lnL cap="flat" cmpd="sng" w="28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456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07376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26.1 Bio</a:t>
                      </a:r>
                      <a:endParaRPr b="1" sz="1800">
                        <a:solidFill>
                          <a:srgbClr val="07376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ctr">
                    <a:lnL cap="flat" cmpd="sng" w="28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9" name="Google Shape;249;p27"/>
          <p:cNvGraphicFramePr/>
          <p:nvPr/>
        </p:nvGraphicFramePr>
        <p:xfrm>
          <a:off x="6340225" y="101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{12121C9D-C8AE-449D-99E1-211CAB176D8D}</a:tableStyleId>
              </a:tblPr>
              <a:tblGrid>
                <a:gridCol w="1100625"/>
              </a:tblGrid>
              <a:tr h="402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Top Branch</a:t>
                      </a:r>
                      <a:endParaRPr b="1" i="1" sz="12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46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07376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Jakarta South</a:t>
                      </a:r>
                      <a:endParaRPr b="1" sz="1100">
                        <a:solidFill>
                          <a:srgbClr val="07376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0" name="Google Shape;250;p27"/>
          <p:cNvGraphicFramePr/>
          <p:nvPr/>
        </p:nvGraphicFramePr>
        <p:xfrm>
          <a:off x="5089625" y="215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{12121C9D-C8AE-449D-99E1-211CAB176D8D}</a:tableStyleId>
              </a:tblPr>
              <a:tblGrid>
                <a:gridCol w="1002100"/>
              </a:tblGrid>
              <a:tr h="38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Quantity</a:t>
                      </a:r>
                      <a:endParaRPr b="1" sz="9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444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rgbClr val="07376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15,325</a:t>
                      </a:r>
                      <a:endParaRPr b="1" sz="1900">
                        <a:solidFill>
                          <a:srgbClr val="07376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1" name="Google Shape;251;p27"/>
          <p:cNvGraphicFramePr/>
          <p:nvPr/>
        </p:nvGraphicFramePr>
        <p:xfrm>
          <a:off x="5089625" y="339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{12121C9D-C8AE-449D-99E1-211CAB176D8D}</a:tableStyleId>
              </a:tblPr>
              <a:tblGrid>
                <a:gridCol w="1002100"/>
              </a:tblGrid>
              <a:tr h="38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Average Trx</a:t>
                      </a:r>
                      <a:endParaRPr b="1" sz="10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518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>
                          <a:solidFill>
                            <a:srgbClr val="07376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5.1 Mio</a:t>
                      </a:r>
                      <a:endParaRPr b="1" sz="2200">
                        <a:solidFill>
                          <a:srgbClr val="07376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2" name="Google Shape;252;p27"/>
          <p:cNvGraphicFramePr/>
          <p:nvPr/>
        </p:nvGraphicFramePr>
        <p:xfrm>
          <a:off x="7654575" y="101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{12121C9D-C8AE-449D-99E1-211CAB176D8D}</a:tableStyleId>
              </a:tblPr>
              <a:tblGrid>
                <a:gridCol w="1200150"/>
              </a:tblGrid>
              <a:tr h="398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Top Product</a:t>
                      </a:r>
                      <a:endParaRPr b="1" i="1" sz="11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464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07376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Electronics</a:t>
                      </a:r>
                      <a:endParaRPr b="1">
                        <a:solidFill>
                          <a:srgbClr val="07376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28575" marL="285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 txBox="1"/>
          <p:nvPr>
            <p:ph type="ctrTitle"/>
          </p:nvPr>
        </p:nvSpPr>
        <p:spPr>
          <a:xfrm>
            <a:off x="648150" y="1016225"/>
            <a:ext cx="43446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Executive Summary</a:t>
            </a:r>
            <a:endParaRPr b="1"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737725" y="1419425"/>
            <a:ext cx="4493100" cy="53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8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8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8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737725" y="1826675"/>
            <a:ext cx="4493100" cy="2086500"/>
          </a:xfrm>
          <a:prstGeom prst="roundRect">
            <a:avLst>
              <a:gd fmla="val 6931" name="adj"/>
            </a:avLst>
          </a:prstGeom>
          <a:solidFill>
            <a:srgbClr val="072557"/>
          </a:solidFill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Char char="●"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Rp 26.07B total revenue dari 5,098 transaksi bersih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Char char="●"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Jakarta South #1 (Rp 2.89B), Bandung Main #10 (Rp 2.33B) — gap 23.8%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Char char="●"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Electronics = 78% revenue meski volume lebih rendah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Char char="●"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Weekend +35%, Payday +30% — predictable dan actionable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Char char="●"/>
            </a:pPr>
            <a:r>
              <a:rPr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 rekomendasi: stok weekend, promo tgl 1-5, investigate Bandung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28"/>
          <p:cNvSpPr txBox="1"/>
          <p:nvPr/>
        </p:nvSpPr>
        <p:spPr>
          <a:xfrm>
            <a:off x="737725" y="1419425"/>
            <a:ext cx="480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TokoMart Q1 2025 – Q1 2026 Performance Summary</a:t>
            </a:r>
            <a:endParaRPr sz="11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/>
          <p:nvPr>
            <p:ph type="ctrTitle"/>
          </p:nvPr>
        </p:nvSpPr>
        <p:spPr>
          <a:xfrm>
            <a:off x="757300" y="1620825"/>
            <a:ext cx="4344600" cy="8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43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you.</a:t>
            </a:r>
            <a:endParaRPr b="1" sz="43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827025" y="2454375"/>
            <a:ext cx="4493100" cy="537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072557"/>
              </a:gs>
              <a:gs pos="100000">
                <a:srgbClr val="072557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9"/>
          <p:cNvSpPr/>
          <p:nvPr/>
        </p:nvSpPr>
        <p:spPr>
          <a:xfrm>
            <a:off x="6439525" y="2340500"/>
            <a:ext cx="3873000" cy="34716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9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315650" y="254500"/>
            <a:ext cx="322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Project Portofolio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827025" y="2454525"/>
            <a:ext cx="316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rseanantonio@gmail.com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 txBox="1"/>
          <p:nvPr>
            <p:ph type="ctrTitle"/>
          </p:nvPr>
        </p:nvSpPr>
        <p:spPr>
          <a:xfrm>
            <a:off x="171900" y="113325"/>
            <a:ext cx="19632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Appendix</a:t>
            </a:r>
            <a:endParaRPr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" name="Google Shape;279;p30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750" y="722625"/>
            <a:ext cx="5103590" cy="184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750" y="2724150"/>
            <a:ext cx="4096024" cy="15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"/>
          <p:cNvSpPr txBox="1"/>
          <p:nvPr>
            <p:ph type="ctrTitle"/>
          </p:nvPr>
        </p:nvSpPr>
        <p:spPr>
          <a:xfrm>
            <a:off x="171900" y="113325"/>
            <a:ext cx="19632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Appendix</a:t>
            </a:r>
            <a:endParaRPr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23" y="527875"/>
            <a:ext cx="3827851" cy="355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220" y="4129225"/>
            <a:ext cx="5424224" cy="97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1775" y="527869"/>
            <a:ext cx="4767849" cy="173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C1E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/>
          <p:nvPr>
            <p:ph type="ctrTitle"/>
          </p:nvPr>
        </p:nvSpPr>
        <p:spPr>
          <a:xfrm>
            <a:off x="171900" y="113325"/>
            <a:ext cx="1963200" cy="4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17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Appendix</a:t>
            </a:r>
            <a:endParaRPr sz="217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p32"/>
          <p:cNvSpPr/>
          <p:nvPr/>
        </p:nvSpPr>
        <p:spPr>
          <a:xfrm>
            <a:off x="7766125" y="3636925"/>
            <a:ext cx="3873000" cy="3325200"/>
          </a:xfrm>
          <a:prstGeom prst="halfFrame">
            <a:avLst>
              <a:gd fmla="val 33333" name="adj1"/>
              <a:gd fmla="val 33333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00" y="570225"/>
            <a:ext cx="7008887" cy="426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